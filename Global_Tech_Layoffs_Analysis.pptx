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Calibri"/>
              </a:rPr>
              <a:t>Employees laid off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laid off by year</c:v>
                </c:pt>
              </c:strCache>
            </c:strRef>
          </c:tx>
          <c:spPr>
            <a:solidFill>
              <a:srgbClr val="2C7B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80998</c:v>
                </c:pt>
                <c:pt idx="1">
                  <c:v>15823</c:v>
                </c:pt>
                <c:pt idx="2">
                  <c:v>165269</c:v>
                </c:pt>
                <c:pt idx="3">
                  <c:v>264220</c:v>
                </c:pt>
                <c:pt idx="4">
                  <c:v>152922</c:v>
                </c:pt>
                <c:pt idx="5">
                  <c:v>72808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Calibri"/>
              </a:rPr>
              <a:t>Top 5 industries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industries</c:v>
                </c:pt>
              </c:strCache>
            </c:strRef>
          </c:tx>
          <c:spPr>
            <a:solidFill>
              <a:srgbClr val="2C7B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Transportation</c:v>
                  </c:pt>
                  <c:pt idx="1">
                    <c:v>Retail</c:v>
                  </c:pt>
                  <c:pt idx="2">
                    <c:v>Consumer</c:v>
                  </c:pt>
                  <c:pt idx="3">
                    <c:v>Other</c:v>
                  </c:pt>
                  <c:pt idx="4">
                    <c:v>Hardware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64066</c:v>
                </c:pt>
                <c:pt idx="1">
                  <c:v>73721</c:v>
                </c:pt>
                <c:pt idx="2">
                  <c:v>76468</c:v>
                </c:pt>
                <c:pt idx="3">
                  <c:v>80491</c:v>
                </c:pt>
                <c:pt idx="4">
                  <c:v>81428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Calibri"/>
              </a:rPr>
              <a:t>Top 5 companies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companies</c:v>
                </c:pt>
              </c:strCache>
            </c:strRef>
          </c:tx>
          <c:spPr>
            <a:solidFill>
              <a:srgbClr val="2C7B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Tesla</c:v>
                  </c:pt>
                  <c:pt idx="1">
                    <c:v>Meta</c:v>
                  </c:pt>
                  <c:pt idx="2">
                    <c:v>Amazon</c:v>
                  </c:pt>
                  <c:pt idx="3">
                    <c:v>Microsoft</c:v>
                  </c:pt>
                  <c:pt idx="4">
                    <c:v>Intel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14500</c:v>
                </c:pt>
                <c:pt idx="1">
                  <c:v>24700</c:v>
                </c:pt>
                <c:pt idx="2">
                  <c:v>27940</c:v>
                </c:pt>
                <c:pt idx="3">
                  <c:v>30013</c:v>
                </c:pt>
                <c:pt idx="4">
                  <c:v>38115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Calibri"/>
              </a:rPr>
              <a:t>Top 5 countries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countries</c:v>
                </c:pt>
              </c:strCache>
            </c:strRef>
          </c:tx>
          <c:spPr>
            <a:solidFill>
              <a:srgbClr val="2C7B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Netherlands</c:v>
                  </c:pt>
                  <c:pt idx="1">
                    <c:v>United Kingdom</c:v>
                  </c:pt>
                  <c:pt idx="2">
                    <c:v>Germany</c:v>
                  </c:pt>
                  <c:pt idx="3">
                    <c:v>India</c:v>
                  </c:pt>
                  <c:pt idx="4">
                    <c:v>United States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19125</c:v>
                </c:pt>
                <c:pt idx="1">
                  <c:v>21280</c:v>
                </c:pt>
                <c:pt idx="2">
                  <c:v>30842</c:v>
                </c:pt>
                <c:pt idx="3">
                  <c:v>59216</c:v>
                </c:pt>
                <c:pt idx="4">
                  <c:v>518812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Calibri"/>
              </a:rPr>
              <a:t>Layoffs by company stage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Layoffs by company stage</c:v>
                </c:pt>
              </c:strCache>
            </c:strRef>
          </c:tx>
          <c:spPr>
            <a:solidFill>
              <a:srgbClr val="2C7B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Series C</c:v>
                  </c:pt>
                  <c:pt idx="1">
                    <c:v>Series B</c:v>
                  </c:pt>
                  <c:pt idx="2">
                    <c:v>Acquired</c:v>
                  </c:pt>
                  <c:pt idx="3">
                    <c:v>Unknown</c:v>
                  </c:pt>
                  <c:pt idx="4">
                    <c:v>Post-IPO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26783</c:v>
                </c:pt>
                <c:pt idx="1">
                  <c:v>30274</c:v>
                </c:pt>
                <c:pt idx="2">
                  <c:v>67456</c:v>
                </c:pt>
                <c:pt idx="3">
                  <c:v>73491</c:v>
                </c:pt>
                <c:pt idx="4">
                  <c:v>439048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 Layoffs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to July 2025  |  Power BI dashboard summary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Anseena A S  |  Junior Data Analyst  |  Knovista Live Project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752,040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laid off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 events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affected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affected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affected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22,000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layoff (Intel, Apr 2025)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was the peak year for layoffs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46304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Layoffs rose sharply after 2021 and peaked in 2023 at about 264,000.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2023 alone had about 90,000 layoffs.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*2025 covers data only to early July.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industries and companies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058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companies account for about 26% of all layoffs.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and company stages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058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has about 69% of layoffs. Post-IPO companies have about 58%.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was the peak year, and January 2023 was the biggest single month.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accounts for about 69% of all layoffs; the top 5 countries about 86%.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Post-IPO companies account for about 58% of layoffs, with larger events (about 673 employees each).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Intel, Microsoft, Amazon and Meta lead the company list.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Consumer and Retail are the most affected industries.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Funds-raised amounts are missing, so funding vs layoffs could not be measured; stage was compared instead.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and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listed companies, mainly in the US, drive most layoffs after fast hiring in 2022 to 2023. Plan workforce size carefully at mature companies, avoid over-hiring in growth periods, and monitor Hardware, Consumer and Retail.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9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funds-raised amounts.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 headcount, so layoff percentage was not calculated.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is a partial year.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Tech Layoffs Analysis</dc:title>
  <dc:subject>PptxGenJS Presentation</dc:subject>
  <dc:creator>Anseena A S</dc:creator>
  <cp:lastModifiedBy>Anseena A S</cp:lastModifiedBy>
  <cp:revision>1</cp:revision>
  <dcterms:created xsi:type="dcterms:W3CDTF">2026-10-24T17:02:49Z</dcterms:created>
  <dcterms:modified xsi:type="dcterms:W3CDTF">2026-10-24T17:02:49Z</dcterms:modified>
</cp:coreProperties>
</file>